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YoY增长(%)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#,##0&quot;%&quot;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玻利维亚</c:v>
                </c:pt>
                <c:pt idx="1">
                  <c:v>危地马拉</c:v>
                </c:pt>
                <c:pt idx="2">
                  <c:v>萨尔瓦多</c:v>
                </c:pt>
                <c:pt idx="3">
                  <c:v>哥伦比亚</c:v>
                </c:pt>
                <c:pt idx="4">
                  <c:v>法国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1144</c:v>
                </c:pt>
                <c:pt idx="1">
                  <c:v>125</c:v>
                </c:pt>
                <c:pt idx="2">
                  <c:v>89</c:v>
                </c:pt>
                <c:pt idx="3">
                  <c:v>72</c:v>
                </c:pt>
                <c:pt idx="4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YoY增长率(%)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Starlink Lite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$#,##0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萨尔瓦多</c:v>
                </c:pt>
                <c:pt idx="1">
                  <c:v>爱尔兰</c:v>
                </c:pt>
                <c:pt idx="2">
                  <c:v>意大利</c:v>
                </c:pt>
                <c:pt idx="3">
                  <c:v>法国</c:v>
                </c:pt>
                <c:pt idx="4">
                  <c:v>智利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32</c:v>
                </c:pt>
                <c:pt idx="2">
                  <c:v>32</c:v>
                </c:pt>
                <c:pt idx="3">
                  <c:v>32</c:v>
                </c:pt>
                <c:pt idx="4">
                  <c:v>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最便宜运营商</c:v>
                </c:pt>
              </c:strCache>
            </c:strRef>
          </c:tx>
          <c:spPr>
            <a:solidFill>
              <a:srgbClr val="CF0A2C"/>
            </a:solidFill>
          </c:spPr>
          <c:dLbls>
            <c:numFmt formatCode="$#,##0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萨尔瓦多</c:v>
                </c:pt>
                <c:pt idx="1">
                  <c:v>爱尔兰</c:v>
                </c:pt>
                <c:pt idx="2">
                  <c:v>意大利</c:v>
                </c:pt>
                <c:pt idx="3">
                  <c:v>法国</c:v>
                </c:pt>
                <c:pt idx="4">
                  <c:v>智利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35</c:v>
                </c:pt>
                <c:pt idx="1">
                  <c:v>33</c:v>
                </c:pt>
                <c:pt idx="2">
                  <c:v>22</c:v>
                </c:pt>
                <c:pt idx="3">
                  <c:v>20</c:v>
                </c:pt>
                <c:pt idx="4">
                  <c:v>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月费(USD)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560320"/>
            <a:ext cx="1371600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Starlink 威胁与防御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  <a:latin typeface="Arial"/>
              </a:defRPr>
            </a:pPr>
            <a:r>
              <a:t>Starlink在拉美威胁极大，3国已平价，需6大防御策略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5A5A6"/>
                </a:solidFill>
                <a:latin typeface="Arial"/>
              </a:defRPr>
            </a:pPr>
            <a:r>
              <a:t>April 2026  | 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0" y="0"/>
            <a:ext cx="54864" cy="685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Starlink在拉美威胁极大，3国已平价，需6大防御策略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Key findings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743200" cy="12801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14国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覆盖市场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371600"/>
            <a:ext cx="2743200" cy="1280160"/>
          </a:xfrm>
          <a:prstGeom prst="rect">
            <a:avLst/>
          </a:prstGeom>
          <a:solidFill>
            <a:srgbClr val="DB4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+1144%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最高增长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FTTH覆盖缺口决定威胁：渗透率&lt;10%市场增长超100%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增长对比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6E6E6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D100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FTTH&lt;10%市场Starlink增长均超80%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StarlinkInsider 2024-2025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Starlink Lite在3国达到平价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价格对比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6E6E6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D100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萨尔瓦多完全平价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14国108条套餐数据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3 recommended actions to move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71600"/>
            <a:ext cx="268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Arial"/>
              </a:defRPr>
            </a:pPr>
            <a:r>
              <a:t>加速FTTH覆盖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32308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加速FTTH覆盖</a:t>
            </a:r>
          </a:p>
        </p:txBody>
      </p:sp>
      <p:sp>
        <p:nvSpPr>
          <p:cNvPr id="9" name="Oval 8"/>
          <p:cNvSpPr/>
          <p:nvPr/>
        </p:nvSpPr>
        <p:spPr>
          <a:xfrm>
            <a:off x="4236720" y="1371600"/>
            <a:ext cx="457200" cy="4572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5360" y="1371600"/>
            <a:ext cx="268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Arial"/>
              </a:defRPr>
            </a:pPr>
            <a:r>
              <a:t>学习Iliad不涨价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6720" y="1920240"/>
            <a:ext cx="32308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学习Iliad不涨价</a:t>
            </a:r>
          </a:p>
        </p:txBody>
      </p:sp>
      <p:sp>
        <p:nvSpPr>
          <p:cNvPr id="12" name="Oval 11"/>
          <p:cNvSpPr/>
          <p:nvPr/>
        </p:nvSpPr>
        <p:spPr>
          <a:xfrm>
            <a:off x="7741920" y="1371600"/>
            <a:ext cx="457200" cy="457200"/>
          </a:xfrm>
          <a:prstGeom prst="ellipse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560" y="1371600"/>
            <a:ext cx="268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F0A2C"/>
                </a:solidFill>
                <a:latin typeface="Arial"/>
              </a:defRPr>
            </a:pPr>
            <a:r>
              <a:t>农村专属套餐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41920" y="1920240"/>
            <a:ext cx="32308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农村专属套餐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286000"/>
            <a:ext cx="3657600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  <a:latin typeface="Arial"/>
              </a:defRPr>
            </a:pPr>
            <a:r>
              <a:t>运营商高管 —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