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YoY增长率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&quot;%&quot;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玻利维亚
+1144%</c:v>
                </c:pt>
                <c:pt idx="1">
                  <c:v>危地马拉
+125%</c:v>
                </c:pt>
                <c:pt idx="2">
                  <c:v>巴拉圭
+165%</c:v>
                </c:pt>
                <c:pt idx="3">
                  <c:v>萨尔瓦多
+89%</c:v>
                </c:pt>
                <c:pt idx="4">
                  <c:v>哥伦比亚
+72%</c:v>
                </c:pt>
                <c:pt idx="5">
                  <c:v>波兰
+4%</c:v>
                </c:pt>
                <c:pt idx="6">
                  <c:v>爱尔兰
+45%</c:v>
                </c:pt>
                <c:pt idx="7">
                  <c:v>法国
+20%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1144</c:v>
                </c:pt>
                <c:pt idx="1">
                  <c:v>125</c:v>
                </c:pt>
                <c:pt idx="2">
                  <c:v>165</c:v>
                </c:pt>
                <c:pt idx="3">
                  <c:v>89</c:v>
                </c:pt>
                <c:pt idx="4">
                  <c:v>72</c:v>
                </c:pt>
                <c:pt idx="5">
                  <c:v>4</c:v>
                </c:pt>
                <c:pt idx="6">
                  <c:v>45</c:v>
                </c:pt>
                <c:pt idx="7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YoY增长率(%)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Starlink Lite月费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32</c:v>
                </c:pt>
                <c:pt idx="2">
                  <c:v>40</c:v>
                </c:pt>
                <c:pt idx="3">
                  <c:v>32</c:v>
                </c:pt>
                <c:pt idx="4">
                  <c:v>32</c:v>
                </c:pt>
                <c:pt idx="5">
                  <c:v>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最便宜运营商月费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$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萨尔瓦多</c:v>
                </c:pt>
                <c:pt idx="1">
                  <c:v>爱尔兰</c:v>
                </c:pt>
                <c:pt idx="2">
                  <c:v>乌拉圭</c:v>
                </c:pt>
                <c:pt idx="3">
                  <c:v>意大利</c:v>
                </c:pt>
                <c:pt idx="4">
                  <c:v>法国</c:v>
                </c:pt>
                <c:pt idx="5">
                  <c:v>智利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35</c:v>
                </c:pt>
                <c:pt idx="1">
                  <c:v>33</c:v>
                </c:pt>
                <c:pt idx="2">
                  <c:v>35</c:v>
                </c:pt>
                <c:pt idx="3">
                  <c:v>22</c:v>
                </c:pt>
                <c:pt idx="4">
                  <c:v>20</c:v>
                </c:pt>
                <c:pt idx="5">
                  <c:v>12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月费(USD等值)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防御评分(10=最强)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永不涨价
(Iliad/SFR)</c:v>
                </c:pt>
                <c:pt idx="1">
                  <c:v>多年保价
(Free)</c:v>
                </c:pt>
                <c:pt idx="2">
                  <c:v>Y1/Y2跳涨
(eir/Orange)</c:v>
                </c:pt>
                <c:pt idx="3">
                  <c:v>固定无合约
(Tigo)</c:v>
                </c:pt>
                <c:pt idx="4">
                  <c:v>国企全覆盖
(Antel)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8</c:v>
                </c:pt>
                <c:pt idx="2">
                  <c:v>3</c:v>
                </c:pt>
                <c:pt idx="3">
                  <c:v>6</c:v>
                </c:pt>
                <c:pt idx="4">
                  <c:v>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防御评分(1-10)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涨价运营商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爱尔兰</c:v>
                </c:pt>
                <c:pt idx="1">
                  <c:v>法国</c:v>
                </c:pt>
                <c:pt idx="2">
                  <c:v>意大利</c:v>
                </c:pt>
                <c:pt idx="3">
                  <c:v>智利</c:v>
                </c:pt>
                <c:pt idx="4">
                  <c:v>哥伦比亚</c:v>
                </c:pt>
                <c:pt idx="5">
                  <c:v>萨尔瓦多</c:v>
                </c:pt>
                <c:pt idx="6">
                  <c:v>危地马拉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不涨价运营商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Sheet1!$A$2:$A$8</c:f>
              <c:strCache>
                <c:ptCount val="7"/>
                <c:pt idx="0">
                  <c:v>爱尔兰</c:v>
                </c:pt>
                <c:pt idx="1">
                  <c:v>法国</c:v>
                </c:pt>
                <c:pt idx="2">
                  <c:v>意大利</c:v>
                </c:pt>
                <c:pt idx="3">
                  <c:v>智利</c:v>
                </c:pt>
                <c:pt idx="4">
                  <c:v>哥伦比亚</c:v>
                </c:pt>
                <c:pt idx="5">
                  <c:v>萨尔瓦多</c:v>
                </c:pt>
                <c:pt idx="6">
                  <c:v>危地马拉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2</c:v>
                </c:pt>
                <c:pt idx="6">
                  <c:v>1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运营商数量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预期影响</c:v>
                </c:pt>
              </c:strCache>
            </c:strRef>
          </c:tx>
          <c:spPr>
            <a:solidFill>
              <a:srgbClr val="333333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8</c:v>
                </c:pt>
                <c:pt idx="2">
                  <c:v>7</c:v>
                </c:pt>
                <c:pt idx="3">
                  <c:v>7</c:v>
                </c:pt>
                <c:pt idx="4">
                  <c:v>5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实施难度</c:v>
                </c:pt>
              </c:strCache>
            </c:strRef>
          </c:tx>
          <c:spPr>
            <a:solidFill>
              <a:srgbClr val="CF0A2C"/>
            </a:solidFill>
          </c:spPr>
          <c:dLbls>
            <c:numFmt formatCode="#,##0.0" sourceLinked="0"/>
            <c:txPr>
              <a:bodyPr/>
              <a:lstStyle/>
              <a:p>
                <a:pPr>
                  <a:defRPr sz="800"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Sheet1!$A$2:$A$7</c:f>
              <c:strCache>
                <c:ptCount val="6"/>
                <c:pt idx="0">
                  <c:v>加速FTTH</c:v>
                </c:pt>
                <c:pt idx="1">
                  <c:v>FWA 5G</c:v>
                </c:pt>
                <c:pt idx="2">
                  <c:v>固定价格</c:v>
                </c:pt>
                <c:pt idx="3">
                  <c:v>农村套餐</c:v>
                </c:pt>
                <c:pt idx="4">
                  <c:v>捆绑增值</c:v>
                </c:pt>
                <c:pt idx="5">
                  <c:v>政府合作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</c:v>
                </c:pt>
                <c:pt idx="1">
                  <c:v>6</c:v>
                </c:pt>
                <c:pt idx="2">
                  <c:v>3</c:v>
                </c:pt>
                <c:pt idx="3">
                  <c:v>4</c:v>
                </c:pt>
                <c:pt idx="4">
                  <c:v>3</c:v>
                </c:pt>
                <c:pt idx="5">
                  <c:v>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0E0E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800"/>
                </a:pPr>
                <a:r>
                  <a:t>评分(1-10)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800">
                <a:latin typeface="Arial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560320"/>
            <a:ext cx="1371600" cy="54864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Arial"/>
              </a:defRPr>
            </a:pPr>
            <a:r>
              <a:t>Starlink 对运营商的威胁与防御策略</a:t>
            </a:r>
          </a:p>
          <a:p>
            <a:pPr>
              <a:spcBef>
                <a:spcPts val="1200"/>
              </a:spcBef>
              <a:defRPr sz="1600">
                <a:solidFill>
                  <a:srgbClr val="333333"/>
                </a:solidFill>
                <a:latin typeface="Arial"/>
              </a:defRPr>
            </a:pPr>
            <a:r>
              <a:t>Starlink在拉美威胁极大，3国已平价，需6大防御策略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5A5A6"/>
                </a:solidFill>
                <a:latin typeface="Arial"/>
              </a:defRPr>
            </a:pPr>
            <a:r>
              <a:t>April 2026  |  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0" y="0"/>
            <a:ext cx="54864" cy="685800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Starlink在拉美威胁极大，3国已平价，需6大防御策略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Key findings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2446020" cy="12801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14国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覆盖市场</a:t>
            </a:r>
            <a:br/>
            <a:r>
              <a:t>5欧+9拉美</a:t>
            </a:r>
          </a:p>
        </p:txBody>
      </p:sp>
      <p:sp>
        <p:nvSpPr>
          <p:cNvPr id="7" name="Rectangle 6"/>
          <p:cNvSpPr/>
          <p:nvPr/>
        </p:nvSpPr>
        <p:spPr>
          <a:xfrm>
            <a:off x="3360420" y="1371600"/>
            <a:ext cx="2446020" cy="1280160"/>
          </a:xfrm>
          <a:prstGeom prst="rect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3国平价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Lite平价</a:t>
            </a:r>
            <a:br/>
            <a:r>
              <a:t>SV/I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371600"/>
            <a:ext cx="2446020" cy="12801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+1144%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最高增长</a:t>
            </a:r>
            <a:br/>
            <a:r>
              <a:t>玻利维亚</a:t>
            </a:r>
          </a:p>
        </p:txBody>
      </p:sp>
      <p:sp>
        <p:nvSpPr>
          <p:cNvPr id="9" name="Rectangle 8"/>
          <p:cNvSpPr/>
          <p:nvPr/>
        </p:nvSpPr>
        <p:spPr>
          <a:xfrm>
            <a:off x="8618220" y="1371600"/>
            <a:ext cx="2446020" cy="1280160"/>
          </a:xfrm>
          <a:prstGeom prst="rect">
            <a:avLst/>
          </a:prstGeom>
          <a:solidFill>
            <a:srgbClr val="9B07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108个</a:t>
            </a:r>
          </a:p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套餐对比</a:t>
            </a:r>
            <a:br/>
            <a:r>
              <a:t>全运营商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FTTH覆盖缺口决定威胁：渗透率&lt;10%市场Starlink增长超100%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FTTH vs 增长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FTTH渗透率&lt;10%的4国（BO/GT/PY/SV），Starlink增长率全部超80%。覆盖空白=蓝海。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StarlinkInsider 2024-2025, FTTH Council Europe 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Starlink Lite在3国达到平价：SV=Tigo，IE&lt;eir Y2价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价格对比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萨尔瓦多完全平价。爱尔兰eir Y2涨到€76后Starlink Lite反而更便宜。智利/法国Starlink贵2-3倍。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14国108条运营商套餐, StarlinkInsider价格历史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5种定价模式决定防御力：不涨价最强，跳涨最弱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定价模式分析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Y1/Y2跳涨(eir:€30→€76)反而帮Starlink获客。不涨价是最有效防御。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14国运营商定价分析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运营商涨价策略反而帮Starlink：108套餐全对比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涨价vs不涨价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欧洲涨价普遍(爱尔兰3家全涨)，拉美以固定价为主。涨价市场=Starlink获客更容易。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14国108条套餐, 24张运营商官网截图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6大防御战略可降低Starlink渗透率40-60%</a:t>
            </a:r>
          </a:p>
          <a:p>
            <a:pPr>
              <a:defRPr sz="1200">
                <a:solidFill>
                  <a:srgbClr val="7F8C8D"/>
                </a:solidFill>
                <a:latin typeface="Arial"/>
              </a:defRPr>
            </a:pPr>
            <a:r>
              <a:t>防御优先级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371600"/>
          <a:ext cx="6858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645920"/>
            <a:ext cx="3657600" cy="1828800"/>
          </a:xfrm>
          <a:prstGeom prst="rect">
            <a:avLst/>
          </a:prstGeom>
          <a:solidFill>
            <a:srgbClr val="E6E6E6"/>
          </a:solidFill>
          <a:ln w="190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657600" cy="25603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D100"/>
                </a:solidFill>
                <a:latin typeface="Arial"/>
              </a:defRPr>
            </a:pPr>
            <a:r>
              <a:t>KEY 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80" y="1965960"/>
            <a:ext cx="338328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C3E50"/>
                </a:solidFill>
                <a:latin typeface="Arial"/>
              </a:defRPr>
            </a:pPr>
            <a:r>
              <a:t>固定价格模式ROI最高(影响7/难度3)——零投资即可执行。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00">
                <a:solidFill>
                  <a:srgbClr val="95A5A6"/>
                </a:solidFill>
                <a:latin typeface="Arial"/>
              </a:defRPr>
            </a:pPr>
            <a:r>
              <a:t>运营商防御策略分析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1695" cy="27432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F0A2C"/>
                </a:solidFill>
                <a:latin typeface="Arial"/>
              </a:defRPr>
            </a:pPr>
            <a:r>
              <a:t>5 recommended actions to move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>
              <a:defRPr sz="800">
                <a:solidFill>
                  <a:srgbClr val="FFFFFF"/>
                </a:solidFill>
                <a:latin typeface="Arial"/>
              </a:defRPr>
            </a:pPr>
            <a:r>
              <a:t>Confidential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加速FTTH/FWA覆盖：优先FTTH&lt;10%市场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加速FTTH/FWA覆盖：优先FTTH&lt;10%市场</a:t>
            </a:r>
          </a:p>
        </p:txBody>
      </p:sp>
      <p:sp>
        <p:nvSpPr>
          <p:cNvPr id="9" name="Oval 8"/>
          <p:cNvSpPr/>
          <p:nvPr/>
        </p:nvSpPr>
        <p:spPr>
          <a:xfrm>
            <a:off x="4236720" y="137160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853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33333"/>
                </a:solidFill>
                <a:latin typeface="Arial"/>
              </a:defRPr>
            </a:pPr>
            <a:r>
              <a:t>学习Iliad不涨价模式：锁定价格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367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学习Iliad不涨价模式：锁定价格</a:t>
            </a:r>
          </a:p>
        </p:txBody>
      </p:sp>
      <p:sp>
        <p:nvSpPr>
          <p:cNvPr id="12" name="Oval 11"/>
          <p:cNvSpPr/>
          <p:nvPr/>
        </p:nvSpPr>
        <p:spPr>
          <a:xfrm>
            <a:off x="7741920" y="1371600"/>
            <a:ext cx="457200" cy="457200"/>
          </a:xfrm>
          <a:prstGeom prst="ellipse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0560" y="1371600"/>
            <a:ext cx="2682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CF0A2C"/>
                </a:solidFill>
                <a:latin typeface="Arial"/>
              </a:defRPr>
            </a:pPr>
            <a:r>
              <a:t>推出农村低价套餐：$15-20档位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41920" y="1920240"/>
            <a:ext cx="32308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推出农村低价套餐：$15-20档位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DB47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DB4760"/>
                </a:solidFill>
                <a:latin typeface="Arial"/>
              </a:defRPr>
            </a:pPr>
            <a:r>
              <a:t>5G FWA快速部署：56万→目标200万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5G FWA快速部署：56万→目标200万</a:t>
            </a:r>
          </a:p>
        </p:txBody>
      </p:sp>
      <p:sp>
        <p:nvSpPr>
          <p:cNvPr id="18" name="Oval 17"/>
          <p:cNvSpPr/>
          <p:nvPr/>
        </p:nvSpPr>
        <p:spPr>
          <a:xfrm>
            <a:off x="5989320" y="3931920"/>
            <a:ext cx="457200" cy="457200"/>
          </a:xfrm>
          <a:prstGeom prst="ellipse">
            <a:avLst/>
          </a:prstGeom>
          <a:solidFill>
            <a:srgbClr val="AF0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3931920"/>
            <a:ext cx="4434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AF0825"/>
                </a:solidFill>
                <a:latin typeface="Arial"/>
              </a:defRPr>
            </a:pPr>
            <a:r>
              <a:t>政府合作数字包容计划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89320" y="4480560"/>
            <a:ext cx="4983480" cy="16459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2C3E50"/>
                </a:solidFill>
                <a:latin typeface="Arial"/>
              </a:defRPr>
            </a:pPr>
            <a:r>
              <a:t>政府合作数字包容计划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F0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0" y="2286000"/>
            <a:ext cx="3657600" cy="4572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  <a:latin typeface="Arial"/>
              </a:defRPr>
            </a:pPr>
            <a:r>
              <a:t>运营商高管 + 战略部 —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