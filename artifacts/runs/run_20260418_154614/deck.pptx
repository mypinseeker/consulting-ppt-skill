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0A3E0"/>
            </a:solidFill>
          </c:spPr>
          <c:dLbls>
            <c:numFmt formatCode="$#,##0.0&quot;M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Category A</c:v>
                </c:pt>
                <c:pt idx="1">
                  <c:v>Category B</c:v>
                </c:pt>
                <c:pt idx="2">
                  <c:v>Category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150</c:v>
                </c:pt>
                <c:pt idx="2">
                  <c:v>120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Value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0A3E0"/>
            </a:solidFill>
          </c:spPr>
          <c:dLbls>
            <c:numFmt formatCode="$#,##0.0&quot;M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Category A</c:v>
                </c:pt>
                <c:pt idx="1">
                  <c:v>Category B</c:v>
                </c:pt>
                <c:pt idx="2">
                  <c:v>Category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150</c:v>
                </c:pt>
                <c:pt idx="2">
                  <c:v>120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Value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0A3E0"/>
            </a:solidFill>
          </c:spPr>
          <c:dLbls>
            <c:numFmt formatCode="$#,##0.0&quot;M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Category A</c:v>
                </c:pt>
                <c:pt idx="1">
                  <c:v>Category B</c:v>
                </c:pt>
                <c:pt idx="2">
                  <c:v>Category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150</c:v>
                </c:pt>
                <c:pt idx="2">
                  <c:v>120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Value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AI 基建哪个赛道最值得投资？</a:t>
            </a:r>
          </a:p>
          <a:p>
            <a:pPr>
              <a:spcBef>
                <a:spcPts val="1200"/>
              </a:spcBef>
              <a:defRPr sz="1600">
                <a:solidFill>
                  <a:srgbClr val="00A3E0"/>
                </a:solidFill>
                <a:latin typeface="Arial"/>
              </a:defRPr>
            </a:pPr>
            <a:r>
              <a:t>光模块赛道最确定（$194亿市场），CPO 长期空间最大（$200亿+ by 2036）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A5A6"/>
                </a:solidFill>
                <a:latin typeface="Arial"/>
              </a:defRPr>
            </a:pPr>
            <a:r>
              <a:t>April 2026  | 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0" y="0"/>
            <a:ext cx="54864" cy="6858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65D"/>
                </a:solidFill>
                <a:latin typeface="Arial"/>
              </a:defRPr>
            </a:pPr>
            <a:r>
              <a:t>光模块赛道最确定（$194亿市场），CPO 长期空间最大（$200亿+ by 2036）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Key findings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743200" cy="128016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#1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光模块 2026 年市场规模 $194 亿，中国企业全球领先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36720" y="1371600"/>
            <a:ext cx="2743200" cy="1280160"/>
          </a:xfrm>
          <a:prstGeom prst="rect">
            <a:avLst/>
          </a:prstGeom>
          <a:solidFill>
            <a:srgbClr val="546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#2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CPO 是下一代技术，2036 年市场超 $200 亿但量产良率是关键变量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7741920" y="1371600"/>
            <a:ext cx="2743200" cy="12801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#3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液冷是对的逻辑但慢的节奏，PCB 要警惕 2028 产能过剩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65D"/>
                </a:solidFill>
                <a:latin typeface="Arial"/>
              </a:defRPr>
            </a:pPr>
            <a:r>
              <a:t>光模块 2026 年市场规模 $194 亿，中国企业全球领先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光模块 2026 年市场规模 $194 亿，中国企业全球领先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0F3FB"/>
          </a:solidFill>
          <a:ln w="190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A623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Key insight from: 光模块 2026 年市场规模 $194 亿，中国企业全球领先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Data source to be confirmed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65D"/>
                </a:solidFill>
                <a:latin typeface="Arial"/>
              </a:defRPr>
            </a:pPr>
            <a:r>
              <a:t>CPO 是下一代技术，2036 年市场超 $200 亿但量产良率是关键变量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CPO 是下一代技术，2036 年市场超 $200 亿但量产良率是关键变量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0F3FB"/>
          </a:solidFill>
          <a:ln w="190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A623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Key insight from: CPO 是下一代技术，2036 年市场超 $200 亿但量产良率是关键变量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Data source to be confirmed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65D"/>
                </a:solidFill>
                <a:latin typeface="Arial"/>
              </a:defRPr>
            </a:pPr>
            <a:r>
              <a:t>液冷是对的逻辑但慢的节奏，PCB 要警惕 2028 产能过剩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液冷是对的逻辑但慢的节奏，PCB 要警惕 2028 产能过剩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0F3FB"/>
          </a:solidFill>
          <a:ln w="190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A623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Key insight from: 液冷是对的逻辑但慢的节奏，PCB 要警惕 2028 产能过剩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Data source to be confirmed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65D"/>
                </a:solidFill>
                <a:latin typeface="Arial"/>
              </a:defRPr>
            </a:pPr>
            <a:r>
              <a:t>3 recommended actions to move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71600"/>
            <a:ext cx="29543161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3E0"/>
                </a:solidFill>
                <a:latin typeface="Arial"/>
              </a:defRPr>
            </a:pPr>
            <a:r>
              <a:t>重仓光模块龙头：中际旭创、新易盛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重仓光模块龙头：中际旭创、新易盛</a:t>
            </a:r>
          </a:p>
        </p:txBody>
      </p:sp>
      <p:sp>
        <p:nvSpPr>
          <p:cNvPr id="9" name="Oval 8"/>
          <p:cNvSpPr/>
          <p:nvPr/>
        </p:nvSpPr>
        <p:spPr>
          <a:xfrm>
            <a:off x="4236720" y="1371600"/>
            <a:ext cx="457200" cy="457200"/>
          </a:xfrm>
          <a:prstGeom prst="ellipse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5360" y="1371600"/>
            <a:ext cx="29543161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3E0"/>
                </a:solidFill>
                <a:latin typeface="Arial"/>
              </a:defRPr>
            </a:pPr>
            <a:r>
              <a:t>小仓位布局 CPO 先行者：Broadcom、Marvell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67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小仓位布局 CPO 先行者：Broadcom、Marvell</a:t>
            </a:r>
          </a:p>
        </p:txBody>
      </p:sp>
      <p:sp>
        <p:nvSpPr>
          <p:cNvPr id="12" name="Oval 11"/>
          <p:cNvSpPr/>
          <p:nvPr/>
        </p:nvSpPr>
        <p:spPr>
          <a:xfrm>
            <a:off x="7741920" y="1371600"/>
            <a:ext cx="457200" cy="457200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560" y="1371600"/>
            <a:ext cx="29543161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Arial"/>
              </a:defRPr>
            </a:pPr>
            <a:r>
              <a:t>回避 PCB 产能过剩风险标的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419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回避 PCB 产能过剩风险标的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286000"/>
            <a:ext cx="365760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A3E0"/>
                </a:solidFill>
                <a:latin typeface="Arial"/>
              </a:defRPr>
            </a:pPr>
            <a:r>
              <a:t>投资委员会 —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