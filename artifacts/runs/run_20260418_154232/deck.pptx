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09FDB"/>
            </a:solidFill>
          </c:spPr>
          <c:dLbls>
            <c:numFmt formatCode="$#,##0.0&quot;M&quot;" sourceLinked="0"/>
            <c:txPr>
              <a:bodyPr/>
              <a:lstStyle/>
              <a:p>
                <a:pPr>
                  <a:defRPr sz="800"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Category A</c:v>
                </c:pt>
                <c:pt idx="1">
                  <c:v>Category B</c:v>
                </c:pt>
                <c:pt idx="2">
                  <c:v>Category 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150</c:v>
                </c:pt>
                <c:pt idx="2">
                  <c:v>120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800"/>
                </a:pPr>
                <a:r>
                  <a:t>Value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09FDB"/>
            </a:solidFill>
          </c:spPr>
          <c:dLbls>
            <c:numFmt formatCode="$#,##0.0&quot;M&quot;" sourceLinked="0"/>
            <c:txPr>
              <a:bodyPr/>
              <a:lstStyle/>
              <a:p>
                <a:pPr>
                  <a:defRPr sz="800"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Category A</c:v>
                </c:pt>
                <c:pt idx="1">
                  <c:v>Category B</c:v>
                </c:pt>
                <c:pt idx="2">
                  <c:v>Category 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150</c:v>
                </c:pt>
                <c:pt idx="2">
                  <c:v>120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800"/>
                </a:pPr>
                <a:r>
                  <a:t>Value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09FDB"/>
            </a:solidFill>
          </c:spPr>
          <c:dLbls>
            <c:numFmt formatCode="$#,##0.0&quot;M&quot;" sourceLinked="0"/>
            <c:txPr>
              <a:bodyPr/>
              <a:lstStyle/>
              <a:p>
                <a:pPr>
                  <a:defRPr sz="800"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Category A</c:v>
                </c:pt>
                <c:pt idx="1">
                  <c:v>Category B</c:v>
                </c:pt>
                <c:pt idx="2">
                  <c:v>Category 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150</c:v>
                </c:pt>
                <c:pt idx="2">
                  <c:v>120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800"/>
                </a:pPr>
                <a:r>
                  <a:t>Value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7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560320"/>
            <a:ext cx="1371600" cy="5486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Should we switch RAN vendors or stay with the current one?</a:t>
            </a:r>
          </a:p>
          <a:p>
            <a:pPr>
              <a:spcBef>
                <a:spcPts val="1200"/>
              </a:spcBef>
              <a:defRPr sz="1600">
                <a:solidFill>
                  <a:srgbClr val="009FDB"/>
                </a:solidFill>
                <a:latin typeface="Arial"/>
              </a:defRPr>
            </a:pPr>
            <a:r>
              <a:t>Staying is 22-57% cheaper than switching across all 4 deployment scenarios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5A5A6"/>
                </a:solidFill>
                <a:latin typeface="Arial"/>
              </a:defRPr>
            </a:pPr>
            <a:r>
              <a:t>April 2026  |  CONFIDENTIAL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11430000" y="0"/>
            <a:ext cx="54864" cy="6858000"/>
          </a:xfrm>
          <a:prstGeom prst="rect">
            <a:avLst/>
          </a:prstGeom>
          <a:solidFill>
            <a:srgbClr val="009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7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377B"/>
                </a:solidFill>
                <a:latin typeface="Arial"/>
              </a:defRPr>
            </a:pPr>
            <a:r>
              <a:t>Staying is 22-57% cheaper than switching across all 4 deployment scenarios</a:t>
            </a:r>
          </a:p>
          <a:p>
            <a:pPr>
              <a:defRPr sz="1200">
                <a:solidFill>
                  <a:srgbClr val="7F8C8D"/>
                </a:solidFill>
                <a:latin typeface="Arial"/>
              </a:defRPr>
            </a:pPr>
            <a:r>
              <a:t>Key findings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37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800">
                <a:solidFill>
                  <a:srgbClr val="FFFFFF"/>
                </a:solidFill>
                <a:latin typeface="Arial"/>
              </a:defRPr>
            </a:pPr>
            <a:r>
              <a:t>Confidential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2743200" cy="1280160"/>
          </a:xfrm>
          <a:prstGeom prst="rect">
            <a:avLst/>
          </a:prstGeom>
          <a:solidFill>
            <a:srgbClr val="009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#1</a:t>
            </a:r>
          </a:p>
          <a:p>
            <a:pPr algn="ctr">
              <a:defRPr sz="1000">
                <a:solidFill>
                  <a:srgbClr val="FFFFFF"/>
                </a:solidFill>
                <a:latin typeface="Arial"/>
              </a:defRPr>
            </a:pPr>
            <a:r>
              <a:t>Migration and multi-vendor costs dominat</a:t>
            </a:r>
          </a:p>
        </p:txBody>
      </p:sp>
      <p:sp>
        <p:nvSpPr>
          <p:cNvPr id="7" name="Rectangle 6"/>
          <p:cNvSpPr/>
          <p:nvPr/>
        </p:nvSpPr>
        <p:spPr>
          <a:xfrm>
            <a:off x="4236720" y="1371600"/>
            <a:ext cx="2743200" cy="1280160"/>
          </a:xfrm>
          <a:prstGeom prst="rect">
            <a:avLst/>
          </a:prstGeom>
          <a:solidFill>
            <a:srgbClr val="3F6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#2</a:t>
            </a:r>
          </a:p>
          <a:p>
            <a:pPr algn="ctr">
              <a:defRPr sz="1000">
                <a:solidFill>
                  <a:srgbClr val="FFFFFF"/>
                </a:solidFill>
                <a:latin typeface="Arial"/>
              </a:defRPr>
            </a:pPr>
            <a:r>
              <a:t>Stay scenario delivers 16 months faster </a:t>
            </a:r>
          </a:p>
        </p:txBody>
      </p:sp>
      <p:sp>
        <p:nvSpPr>
          <p:cNvPr id="8" name="Rectangle 7"/>
          <p:cNvSpPr/>
          <p:nvPr/>
        </p:nvSpPr>
        <p:spPr>
          <a:xfrm>
            <a:off x="7741920" y="1371600"/>
            <a:ext cx="2743200" cy="1280160"/>
          </a:xfrm>
          <a:prstGeom prst="rect">
            <a:avLst/>
          </a:prstGeom>
          <a:solidFill>
            <a:srgbClr val="0037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#3</a:t>
            </a:r>
          </a:p>
          <a:p>
            <a:pPr algn="ctr">
              <a:defRPr sz="1000">
                <a:solidFill>
                  <a:srgbClr val="FFFFFF"/>
                </a:solidFill>
                <a:latin typeface="Arial"/>
              </a:defRPr>
            </a:pPr>
            <a:r>
              <a:t>Three actions capture value without swit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7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377B"/>
                </a:solidFill>
                <a:latin typeface="Arial"/>
              </a:defRPr>
            </a:pPr>
            <a:r>
              <a:t>Migration and multi-vendor costs dominate the switching premium</a:t>
            </a:r>
          </a:p>
          <a:p>
            <a:pPr>
              <a:defRPr sz="1200">
                <a:solidFill>
                  <a:srgbClr val="7F8C8D"/>
                </a:solidFill>
                <a:latin typeface="Arial"/>
              </a:defRPr>
            </a:pPr>
            <a:r>
              <a:t>Migration and multi-vendor costs dominate the switching premium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37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800">
                <a:solidFill>
                  <a:srgbClr val="FFFFFF"/>
                </a:solidFill>
                <a:latin typeface="Arial"/>
              </a:defRPr>
            </a:pPr>
            <a:r>
              <a:t>Confidential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371600"/>
          <a:ext cx="68580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8046720" y="1645920"/>
            <a:ext cx="3657600" cy="1828800"/>
          </a:xfrm>
          <a:prstGeom prst="rect">
            <a:avLst/>
          </a:prstGeom>
          <a:solidFill>
            <a:srgbClr val="E0F3FA"/>
          </a:solidFill>
          <a:ln w="19050">
            <a:solidFill>
              <a:srgbClr val="009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1645920"/>
            <a:ext cx="3657600" cy="256032"/>
          </a:xfrm>
          <a:prstGeom prst="rect">
            <a:avLst/>
          </a:prstGeom>
          <a:solidFill>
            <a:srgbClr val="0037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D100"/>
                </a:solidFill>
                <a:latin typeface="Arial"/>
              </a:defRPr>
            </a:pPr>
            <a:r>
              <a:t>KEY INSIGHT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80" y="1965960"/>
            <a:ext cx="33832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C3E50"/>
                </a:solidFill>
                <a:latin typeface="Arial"/>
              </a:defRPr>
            </a:pPr>
            <a:r>
              <a:t>Key insight from: Migration and multi-vendor costs dominate the switching premium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95A5A6"/>
                </a:solidFill>
                <a:latin typeface="Arial"/>
              </a:defRPr>
            </a:pPr>
            <a:r>
              <a:t>Data source to be confirmed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7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377B"/>
                </a:solidFill>
                <a:latin typeface="Arial"/>
              </a:defRPr>
            </a:pPr>
            <a:r>
              <a:t>Stay scenario delivers 16 months faster 5G rollout</a:t>
            </a:r>
          </a:p>
          <a:p>
            <a:pPr>
              <a:defRPr sz="1200">
                <a:solidFill>
                  <a:srgbClr val="7F8C8D"/>
                </a:solidFill>
                <a:latin typeface="Arial"/>
              </a:defRPr>
            </a:pPr>
            <a:r>
              <a:t>Stay scenario delivers 16 months faster 5G rollout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37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800">
                <a:solidFill>
                  <a:srgbClr val="FFFFFF"/>
                </a:solidFill>
                <a:latin typeface="Arial"/>
              </a:defRPr>
            </a:pPr>
            <a:r>
              <a:t>Confidential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371600"/>
          <a:ext cx="68580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8046720" y="1645920"/>
            <a:ext cx="3657600" cy="1828800"/>
          </a:xfrm>
          <a:prstGeom prst="rect">
            <a:avLst/>
          </a:prstGeom>
          <a:solidFill>
            <a:srgbClr val="E0F3FA"/>
          </a:solidFill>
          <a:ln w="19050">
            <a:solidFill>
              <a:srgbClr val="009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1645920"/>
            <a:ext cx="3657600" cy="256032"/>
          </a:xfrm>
          <a:prstGeom prst="rect">
            <a:avLst/>
          </a:prstGeom>
          <a:solidFill>
            <a:srgbClr val="0037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D100"/>
                </a:solidFill>
                <a:latin typeface="Arial"/>
              </a:defRPr>
            </a:pPr>
            <a:r>
              <a:t>KEY INSIGHT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80" y="1965960"/>
            <a:ext cx="33832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C3E50"/>
                </a:solidFill>
                <a:latin typeface="Arial"/>
              </a:defRPr>
            </a:pPr>
            <a:r>
              <a:t>Key insight from: Stay scenario delivers 16 months faster 5G rollout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95A5A6"/>
                </a:solidFill>
                <a:latin typeface="Arial"/>
              </a:defRPr>
            </a:pPr>
            <a:r>
              <a:t>Data source to be confirmed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7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377B"/>
                </a:solidFill>
                <a:latin typeface="Arial"/>
              </a:defRPr>
            </a:pPr>
            <a:r>
              <a:t>Three actions capture value without switching risk</a:t>
            </a:r>
          </a:p>
          <a:p>
            <a:pPr>
              <a:defRPr sz="1200">
                <a:solidFill>
                  <a:srgbClr val="7F8C8D"/>
                </a:solidFill>
                <a:latin typeface="Arial"/>
              </a:defRPr>
            </a:pPr>
            <a:r>
              <a:t>Three actions capture value without switching risk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37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800">
                <a:solidFill>
                  <a:srgbClr val="FFFFFF"/>
                </a:solidFill>
                <a:latin typeface="Arial"/>
              </a:defRPr>
            </a:pPr>
            <a:r>
              <a:t>Confidential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371600"/>
          <a:ext cx="68580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8046720" y="1645920"/>
            <a:ext cx="3657600" cy="1828800"/>
          </a:xfrm>
          <a:prstGeom prst="rect">
            <a:avLst/>
          </a:prstGeom>
          <a:solidFill>
            <a:srgbClr val="E0F3FA"/>
          </a:solidFill>
          <a:ln w="19050">
            <a:solidFill>
              <a:srgbClr val="009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1645920"/>
            <a:ext cx="3657600" cy="256032"/>
          </a:xfrm>
          <a:prstGeom prst="rect">
            <a:avLst/>
          </a:prstGeom>
          <a:solidFill>
            <a:srgbClr val="0037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D100"/>
                </a:solidFill>
                <a:latin typeface="Arial"/>
              </a:defRPr>
            </a:pPr>
            <a:r>
              <a:t>KEY INSIGHT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80" y="1965960"/>
            <a:ext cx="33832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C3E50"/>
                </a:solidFill>
                <a:latin typeface="Arial"/>
              </a:defRPr>
            </a:pPr>
            <a:r>
              <a:t>Key insight from: Three actions capture value without switching risk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95A5A6"/>
                </a:solidFill>
                <a:latin typeface="Arial"/>
              </a:defRPr>
            </a:pPr>
            <a:r>
              <a:t>Data source to be confirmed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7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377B"/>
                </a:solidFill>
                <a:latin typeface="Arial"/>
              </a:defRPr>
            </a:pPr>
            <a:r>
              <a:t>3 recommended actions to move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37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800">
                <a:solidFill>
                  <a:srgbClr val="FFFFFF"/>
                </a:solidFill>
                <a:latin typeface="Arial"/>
              </a:defRPr>
            </a:pPr>
            <a:r>
              <a:t>Confidential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1371600"/>
            <a:ext cx="457200" cy="457200"/>
          </a:xfrm>
          <a:prstGeom prst="ellipse">
            <a:avLst/>
          </a:prstGeom>
          <a:solidFill>
            <a:srgbClr val="009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371600"/>
            <a:ext cx="2954316123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9FDB"/>
                </a:solidFill>
                <a:latin typeface="Arial"/>
              </a:defRPr>
            </a:pPr>
            <a:r>
              <a:t>STAY &amp; NEGOTIATE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920240"/>
            <a:ext cx="3230880" cy="1645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2C3E50"/>
                </a:solidFill>
                <a:latin typeface="Arial"/>
              </a:defRPr>
            </a:pPr>
            <a:r>
              <a:t>STAY &amp; NEGOTIATE: Leverage RFP pressure for 10-15% better pricing</a:t>
            </a:r>
          </a:p>
        </p:txBody>
      </p:sp>
      <p:sp>
        <p:nvSpPr>
          <p:cNvPr id="9" name="Oval 8"/>
          <p:cNvSpPr/>
          <p:nvPr/>
        </p:nvSpPr>
        <p:spPr>
          <a:xfrm>
            <a:off x="4236720" y="1371600"/>
            <a:ext cx="457200" cy="457200"/>
          </a:xfrm>
          <a:prstGeom prst="ellipse">
            <a:avLst/>
          </a:prstGeom>
          <a:solidFill>
            <a:srgbClr val="009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85360" y="1371600"/>
            <a:ext cx="2954316123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9FDB"/>
                </a:solidFill>
                <a:latin typeface="Arial"/>
              </a:defRPr>
            </a:pPr>
            <a:r>
              <a:t>MODERNIZE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36720" y="1920240"/>
            <a:ext cx="3230880" cy="1645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2C3E50"/>
                </a:solidFill>
                <a:latin typeface="Arial"/>
              </a:defRPr>
            </a:pPr>
            <a:r>
              <a:t>MODERNIZE: Use savings to fund 5G acceleration</a:t>
            </a:r>
          </a:p>
        </p:txBody>
      </p:sp>
      <p:sp>
        <p:nvSpPr>
          <p:cNvPr id="12" name="Oval 11"/>
          <p:cNvSpPr/>
          <p:nvPr/>
        </p:nvSpPr>
        <p:spPr>
          <a:xfrm>
            <a:off x="7741920" y="1371600"/>
            <a:ext cx="457200" cy="457200"/>
          </a:xfrm>
          <a:prstGeom prst="ellipse">
            <a:avLst/>
          </a:prstGeom>
          <a:solidFill>
            <a:srgbClr val="0037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90560" y="1371600"/>
            <a:ext cx="2954316123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377B"/>
                </a:solidFill>
                <a:latin typeface="Arial"/>
              </a:defRPr>
            </a:pPr>
            <a:r>
              <a:t>STRATEGIC RESERVE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41920" y="1920240"/>
            <a:ext cx="3230880" cy="1645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2C3E50"/>
                </a:solidFill>
                <a:latin typeface="Arial"/>
              </a:defRPr>
            </a:pPr>
            <a:r>
              <a:t>STRATEGIC RESERVE: Maintain vendor diversification for future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7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0" y="2286000"/>
            <a:ext cx="3657600" cy="4572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256032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009FDB"/>
                </a:solidFill>
                <a:latin typeface="Arial"/>
              </a:defRPr>
            </a:pPr>
            <a:r>
              <a:t>CTO + Board — April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