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YoY增长率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玻利维亚</c:v>
                </c:pt>
                <c:pt idx="1">
                  <c:v>危地马拉</c:v>
                </c:pt>
                <c:pt idx="2">
                  <c:v>巴拉圭</c:v>
                </c:pt>
                <c:pt idx="3">
                  <c:v>萨尔瓦多</c:v>
                </c:pt>
                <c:pt idx="4">
                  <c:v>哥伦比亚</c:v>
                </c:pt>
                <c:pt idx="5">
                  <c:v>波兰</c:v>
                </c:pt>
                <c:pt idx="6">
                  <c:v>爱尔兰</c:v>
                </c:pt>
                <c:pt idx="7">
                  <c:v>法国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1144</c:v>
                </c:pt>
                <c:pt idx="1">
                  <c:v>125</c:v>
                </c:pt>
                <c:pt idx="2">
                  <c:v>165</c:v>
                </c:pt>
                <c:pt idx="3">
                  <c:v>89</c:v>
                </c:pt>
                <c:pt idx="4">
                  <c:v>72</c:v>
                </c:pt>
                <c:pt idx="5">
                  <c:v>4</c:v>
                </c:pt>
                <c:pt idx="6">
                  <c:v>45</c:v>
                </c:pt>
                <c:pt idx="7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Lite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32</c:v>
                </c:pt>
                <c:pt idx="2">
                  <c:v>40</c:v>
                </c:pt>
                <c:pt idx="3">
                  <c:v>32</c:v>
                </c:pt>
                <c:pt idx="4">
                  <c:v>32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最便宜运营商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33</c:v>
                </c:pt>
                <c:pt idx="2">
                  <c:v>35</c:v>
                </c:pt>
                <c:pt idx="3">
                  <c:v>22</c:v>
                </c:pt>
                <c:pt idx="4">
                  <c:v>20</c:v>
                </c:pt>
                <c:pt idx="5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防御评分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永不涨价</c:v>
                </c:pt>
                <c:pt idx="1">
                  <c:v>多年保价</c:v>
                </c:pt>
                <c:pt idx="2">
                  <c:v>Y1/Y2跳涨</c:v>
                </c:pt>
                <c:pt idx="3">
                  <c:v>固定无合约</c:v>
                </c:pt>
                <c:pt idx="4">
                  <c:v>国企覆盖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防御评分(1-10)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预期影响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实施难度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8288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对运营商的威胁与防御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48484"/>
                </a:solidFill>
                <a:latin typeface="Arial"/>
              </a:defRPr>
            </a:pPr>
            <a:r>
              <a:t>Starlink在拉美威胁极大，3国已平价，需防御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Starlink在拉美威胁极大，3国已平价，需防御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460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446020" cy="10972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1717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  <a:latin typeface="Arial"/>
              </a:defRPr>
            </a:pPr>
            <a:r>
              <a:t>14国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1717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覆盖市场</a:t>
            </a:r>
            <a:br/>
            <a:r>
              <a:t>5欧洲+9拉美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0420" y="1371600"/>
            <a:ext cx="24460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0420" y="1371600"/>
            <a:ext cx="2446020" cy="109728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7580" y="1600200"/>
            <a:ext cx="21717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B4760"/>
                </a:solidFill>
                <a:latin typeface="Arial"/>
              </a:defRPr>
            </a:pPr>
            <a:r>
              <a:t>3国平价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2194560"/>
            <a:ext cx="21717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Lite已达平价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24460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371600"/>
            <a:ext cx="2446020" cy="109728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00200"/>
            <a:ext cx="21717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F0A2C"/>
                </a:solidFill>
                <a:latin typeface="Arial"/>
              </a:defRPr>
            </a:pPr>
            <a:r>
              <a:t>+1144%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94560"/>
            <a:ext cx="21717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最高增长率</a:t>
            </a:r>
            <a:br/>
            <a:r>
              <a:t>玻利维亚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18220" y="1371600"/>
            <a:ext cx="24460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18220" y="1371600"/>
            <a:ext cx="2446020" cy="109728"/>
          </a:xfrm>
          <a:prstGeom prst="rect">
            <a:avLst/>
          </a:prstGeom>
          <a:solidFill>
            <a:srgbClr val="9B0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5380" y="1600200"/>
            <a:ext cx="21717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B0721"/>
                </a:solidFill>
                <a:latin typeface="Arial"/>
              </a:defRPr>
            </a:pPr>
            <a:r>
              <a:t>108个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5380" y="2194560"/>
            <a:ext cx="21717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套餐对比</a:t>
            </a:r>
            <a:br/>
            <a:r>
              <a:t>全运营商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FTTH覆盖缺口决定威胁：渗透率&lt;10%市场增长超100%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6304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463040"/>
            <a:ext cx="4114800" cy="3840480"/>
          </a:xfrm>
          <a:prstGeom prst="rect">
            <a:avLst/>
          </a:prstGeom>
          <a:solidFill>
            <a:srgbClr val="F5F5F5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109728" cy="384048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554480"/>
            <a:ext cx="3749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F0A2C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874520"/>
            <a:ext cx="3749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• FTTH&lt;10%的4国增长率均超80%</a:t>
            </a:r>
            <a:br/>
            <a:r>
              <a:t>• 玻利维亚+1144%：最高增长，2026年初刚上线</a:t>
            </a:r>
            <a:br/>
            <a:r>
              <a:t>• 覆盖空白=Starlink蓝海</a:t>
            </a:r>
            <a:br/>
            <a:r>
              <a:t>• 法国+20%最低：FTTH 85%+覆盖有效防御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2024-2025, FTTH Council Europe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Lite在3国达到平价：SV=Tigo，IE&lt;eir Y2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价格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6304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463040"/>
            <a:ext cx="4114800" cy="3840480"/>
          </a:xfrm>
          <a:prstGeom prst="rect">
            <a:avLst/>
          </a:prstGeom>
          <a:solidFill>
            <a:srgbClr val="F5F5F5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109728" cy="384048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554480"/>
            <a:ext cx="3749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F0A2C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874520"/>
            <a:ext cx="3749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• 萨尔瓦多完全平价($35=$35)</a:t>
            </a:r>
            <a:br/>
            <a:r>
              <a:t>• 爱尔兰eir Y2涨到€76，Starlink反而便宜</a:t>
            </a:r>
            <a:br/>
            <a:r>
              <a:t>• 智利最便宜光纤仅$12/600M</a:t>
            </a:r>
            <a:br/>
            <a:r>
              <a:t>• 法国Free €20远低于Starlink €32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14国108条套餐, StarlinkInsider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5种定价模式决定防御力：不涨价最强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定价模式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6304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463040"/>
            <a:ext cx="4114800" cy="3840480"/>
          </a:xfrm>
          <a:prstGeom prst="rect">
            <a:avLst/>
          </a:prstGeom>
          <a:solidFill>
            <a:srgbClr val="F5F5F5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109728" cy="384048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554480"/>
            <a:ext cx="3749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F0A2C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874520"/>
            <a:ext cx="3749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• Y1/Y2跳涨反而帮Starlink获客</a:t>
            </a:r>
            <a:br/>
            <a:r>
              <a:t>• eir: €30→€76，用户被推向Starlink</a:t>
            </a:r>
            <a:br/>
            <a:r>
              <a:t>• Iliad永不涨价=最强防御</a:t>
            </a:r>
            <a:br/>
            <a:r>
              <a:t>• 运营商应立即学习锁价策略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14国运营商定价分析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6大防御战略可降低渗透率40-60%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防御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6304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463040"/>
            <a:ext cx="4114800" cy="3840480"/>
          </a:xfrm>
          <a:prstGeom prst="rect">
            <a:avLst/>
          </a:prstGeom>
          <a:solidFill>
            <a:srgbClr val="F5F5F5"/>
          </a:solidFill>
          <a:ln w="635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109728" cy="384048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554480"/>
            <a:ext cx="3749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F0A2C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874520"/>
            <a:ext cx="3749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C3E50"/>
                </a:solidFill>
                <a:latin typeface="Arial"/>
              </a:defRPr>
            </a:pPr>
            <a:r>
              <a:t>• 固定价格ROI最高(影响7/难度3)</a:t>
            </a:r>
            <a:br/>
            <a:r>
              <a:t>• 零投资即可执行</a:t>
            </a:r>
            <a:br/>
            <a:r>
              <a:t>• 加速FTTH影响最大但投资最重</a:t>
            </a:r>
            <a:br/>
            <a:r>
              <a:t>• 5G FWA是拉美最关键反击武器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运营商防御策略分析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加速FTTH/FWA覆盖：优先填补FTTH&lt;10%的市场空白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230880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95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加速FTTH/FWA覆盖：优先填补FTTH&lt;10%的市场空白（危地马拉/萨尔瓦多/巴拉圭），目标3年内覆盖率提升至30%</a:t>
            </a:r>
          </a:p>
        </p:txBody>
      </p:sp>
      <p:sp>
        <p:nvSpPr>
          <p:cNvPr id="11" name="Oval 10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53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学习Iliad不涨价模式：锁定价格消除Starlink的"更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6720" y="1920240"/>
            <a:ext cx="3230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6720" y="1920240"/>
            <a:ext cx="3230880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3880" y="2103120"/>
            <a:ext cx="295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学习Iliad不涨价模式：锁定价格消除Starlink的"更便宜"叙事优势，至少提供一档"永不涨价"套餐</a:t>
            </a:r>
          </a:p>
        </p:txBody>
      </p:sp>
      <p:sp>
        <p:nvSpPr>
          <p:cNvPr id="16" name="Oval 15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推出农村专属低价套餐：$15-20档位精准防御，与Starl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1920" y="1920240"/>
            <a:ext cx="3230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41920" y="1920240"/>
            <a:ext cx="3230880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9080" y="2103120"/>
            <a:ext cx="295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推出农村专属低价套餐：$15-20档位精准防御，与Starlink Lite直接竞争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B4760"/>
                </a:solidFill>
                <a:latin typeface="Arial"/>
              </a:defRPr>
            </a:pPr>
            <a:r>
              <a:t>5G FWA快速部署：拉美仅56万FWA用户，目标1年内提升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480560"/>
            <a:ext cx="4983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480560"/>
            <a:ext cx="4983480" cy="73152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6344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5G FWA快速部署：拉美仅56万FWA用户，目标1年内提升至200万</a:t>
            </a:r>
          </a:p>
        </p:txBody>
      </p:sp>
      <p:sp>
        <p:nvSpPr>
          <p:cNvPr id="26" name="Oval 25"/>
          <p:cNvSpPr/>
          <p:nvPr/>
        </p:nvSpPr>
        <p:spPr>
          <a:xfrm>
            <a:off x="5989320" y="3931920"/>
            <a:ext cx="457200" cy="457200"/>
          </a:xfrm>
          <a:prstGeom prst="ellipse">
            <a:avLst/>
          </a:prstGeom>
          <a:solidFill>
            <a:srgbClr val="AF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0825"/>
                </a:solidFill>
                <a:latin typeface="Arial"/>
              </a:defRPr>
            </a:pPr>
            <a:r>
              <a:t>与政府合作数字包容计划：争取农村覆盖补贴，降低FTTH投资回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480560"/>
            <a:ext cx="4983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4480560"/>
            <a:ext cx="4983480" cy="73152"/>
          </a:xfrm>
          <a:prstGeom prst="rect">
            <a:avLst/>
          </a:prstGeom>
          <a:solidFill>
            <a:srgbClr val="AF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66344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与政府合作数字包容计划：争取农村覆盖补贴，降低FTTH投资回报压力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48484"/>
                </a:solidFill>
                <a:latin typeface="Arial"/>
              </a:defRPr>
            </a:pPr>
            <a:r>
              <a:t>运营商高管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