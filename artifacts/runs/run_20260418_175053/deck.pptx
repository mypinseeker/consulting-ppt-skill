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Starlink YoY增长(%)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#,##0&quot;%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玻利维亚</c:v>
                </c:pt>
                <c:pt idx="1">
                  <c:v>危地马拉</c:v>
                </c:pt>
                <c:pt idx="2">
                  <c:v>巴拉圭</c:v>
                </c:pt>
                <c:pt idx="3">
                  <c:v>萨尔瓦多</c:v>
                </c:pt>
                <c:pt idx="4">
                  <c:v>哥伦比亚</c:v>
                </c:pt>
                <c:pt idx="5">
                  <c:v>波兰</c:v>
                </c:pt>
                <c:pt idx="6">
                  <c:v>爱尔兰</c:v>
                </c:pt>
                <c:pt idx="7">
                  <c:v>法国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1144</c:v>
                </c:pt>
                <c:pt idx="1">
                  <c:v>125</c:v>
                </c:pt>
                <c:pt idx="2">
                  <c:v>165</c:v>
                </c:pt>
                <c:pt idx="3">
                  <c:v>89</c:v>
                </c:pt>
                <c:pt idx="4">
                  <c:v>72</c:v>
                </c:pt>
                <c:pt idx="5">
                  <c:v>4</c:v>
                </c:pt>
                <c:pt idx="6">
                  <c:v>45</c:v>
                </c:pt>
                <c:pt idx="7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YoY增长率(%)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Starlink Lite($)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萨尔瓦多</c:v>
                </c:pt>
                <c:pt idx="1">
                  <c:v>爱尔兰</c:v>
                </c:pt>
                <c:pt idx="2">
                  <c:v>乌拉圭</c:v>
                </c:pt>
                <c:pt idx="3">
                  <c:v>意大利</c:v>
                </c:pt>
                <c:pt idx="4">
                  <c:v>法国</c:v>
                </c:pt>
                <c:pt idx="5">
                  <c:v>智利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32</c:v>
                </c:pt>
                <c:pt idx="2">
                  <c:v>40</c:v>
                </c:pt>
                <c:pt idx="3">
                  <c:v>32</c:v>
                </c:pt>
                <c:pt idx="4">
                  <c:v>32</c:v>
                </c:pt>
                <c:pt idx="5">
                  <c:v>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最便宜运营商($)</c:v>
                </c:pt>
              </c:strCache>
            </c:strRef>
          </c:tx>
          <c:spPr>
            <a:solidFill>
              <a:srgbClr val="CF0A2C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萨尔瓦多</c:v>
                </c:pt>
                <c:pt idx="1">
                  <c:v>爱尔兰</c:v>
                </c:pt>
                <c:pt idx="2">
                  <c:v>乌拉圭</c:v>
                </c:pt>
                <c:pt idx="3">
                  <c:v>意大利</c:v>
                </c:pt>
                <c:pt idx="4">
                  <c:v>法国</c:v>
                </c:pt>
                <c:pt idx="5">
                  <c:v>智利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</c:v>
                </c:pt>
                <c:pt idx="1">
                  <c:v>33</c:v>
                </c:pt>
                <c:pt idx="2">
                  <c:v>35</c:v>
                </c:pt>
                <c:pt idx="3">
                  <c:v>22</c:v>
                </c:pt>
                <c:pt idx="4">
                  <c:v>20</c:v>
                </c:pt>
                <c:pt idx="5">
                  <c:v>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月费(USD等值)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防御评分(10=最强)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#,##0.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永不涨价(Iliad)</c:v>
                </c:pt>
                <c:pt idx="1">
                  <c:v>多年保价(Free)</c:v>
                </c:pt>
                <c:pt idx="2">
                  <c:v>Y1/Y2跳涨(eir)</c:v>
                </c:pt>
                <c:pt idx="3">
                  <c:v>固定无合约(Tigo)</c:v>
                </c:pt>
                <c:pt idx="4">
                  <c:v>国企覆盖(Antel)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8</c:v>
                </c:pt>
                <c:pt idx="2">
                  <c:v>3</c:v>
                </c:pt>
                <c:pt idx="3">
                  <c:v>6</c:v>
                </c:pt>
                <c:pt idx="4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防御评分(1-10)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预期影响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#,##0.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加速FTTH</c:v>
                </c:pt>
                <c:pt idx="1">
                  <c:v>FWA 5G</c:v>
                </c:pt>
                <c:pt idx="2">
                  <c:v>固定价格</c:v>
                </c:pt>
                <c:pt idx="3">
                  <c:v>农村套餐</c:v>
                </c:pt>
                <c:pt idx="4">
                  <c:v>捆绑增值</c:v>
                </c:pt>
                <c:pt idx="5">
                  <c:v>政府合作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8</c:v>
                </c:pt>
                <c:pt idx="2">
                  <c:v>7</c:v>
                </c:pt>
                <c:pt idx="3">
                  <c:v>7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实施难度</c:v>
                </c:pt>
              </c:strCache>
            </c:strRef>
          </c:tx>
          <c:spPr>
            <a:solidFill>
              <a:srgbClr val="CF0A2C"/>
            </a:solidFill>
          </c:spPr>
          <c:dLbls>
            <c:numFmt formatCode="#,##0.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加速FTTH</c:v>
                </c:pt>
                <c:pt idx="1">
                  <c:v>FWA 5G</c:v>
                </c:pt>
                <c:pt idx="2">
                  <c:v>固定价格</c:v>
                </c:pt>
                <c:pt idx="3">
                  <c:v>农村套餐</c:v>
                </c:pt>
                <c:pt idx="4">
                  <c:v>捆绑增值</c:v>
                </c:pt>
                <c:pt idx="5">
                  <c:v>政府合作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</c:v>
                </c:pt>
                <c:pt idx="1">
                  <c:v>6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  <c:pt idx="5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评分(1-10)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1371600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Starlink 对运营商宽带业务的威胁有多大？如何防御？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  <a:latin typeface="Arial"/>
              </a:defRPr>
            </a:pPr>
            <a:r>
              <a:t>Starlink 在 FTTH 覆盖薄弱的拉美市场威胁极大，3 国已达平价，运营商需 6 大防御策略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A5A6"/>
                </a:solidFill>
                <a:latin typeface="Arial"/>
              </a:defRPr>
            </a:pPr>
            <a:r>
              <a:t>April 2026  | 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0" y="0"/>
            <a:ext cx="54864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Starlink 在 FTTH 覆盖薄弱的拉美市场威胁极大，3 国已达平价，运营商需 6 大防御策略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Key findings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446020" cy="12801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14国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覆盖市场</a:t>
            </a:r>
            <a:br/>
            <a:r>
              <a:t>5欧洲+9拉美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0420" y="1371600"/>
            <a:ext cx="2446020" cy="1280160"/>
          </a:xfrm>
          <a:prstGeom prst="rect">
            <a:avLst/>
          </a:prstGeom>
          <a:solidFill>
            <a:srgbClr val="DB4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3国平价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Lite已达平价</a:t>
            </a:r>
            <a:br/>
            <a:r>
              <a:t>SV/IE/UY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371600"/>
            <a:ext cx="2446020" cy="1280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+1,144%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最高增长率</a:t>
            </a:r>
            <a:br/>
            <a:r>
              <a:t>玻利维亚</a:t>
            </a:r>
          </a:p>
        </p:txBody>
      </p:sp>
      <p:sp>
        <p:nvSpPr>
          <p:cNvPr id="9" name="Rectangle 8"/>
          <p:cNvSpPr/>
          <p:nvPr/>
        </p:nvSpPr>
        <p:spPr>
          <a:xfrm>
            <a:off x="8618220" y="1371600"/>
            <a:ext cx="2446020" cy="1280160"/>
          </a:xfrm>
          <a:prstGeom prst="rect">
            <a:avLst/>
          </a:prstGeom>
          <a:solidFill>
            <a:srgbClr val="9B0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108套餐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全运营商对比</a:t>
            </a:r>
            <a:br/>
            <a:r>
              <a:t>3-6运营商/市场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FTTH 覆盖缺口决定威胁等级：渗透率&lt;10% 的市场 Starlink 用户增长超 100%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FTTH vs Starlink 增长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FTTH&lt;10%的市场（BO/GT/PY/SV）Starlink增长率均超80%。覆盖空白=Starlink蓝海。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StarlinkInsider 2024-2025, FTTH Council Europe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Starlink Lite 已在 3 个市场达到平价：SV $35=Tigo，IE €29&lt;eir Y2 €76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Starlink vs 运营商价格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萨尔瓦多完全平价。爱尔兰eir Y2涨到€76后Starlink Lite €29反而更便宜。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14国108条套餐数据, StarlinkInsider价格历史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5 种定价模式决定防御能力：不涨价最强，Y1/Y2跳涨最弱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定价模式vs防御效果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Y1/Y2跳涨(eir:€30→€76)反而帮Starlink获客。不涨价是最有效的防御武器。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14国运营商定价分析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6大防御战略可降低Starlink渗透率40-60%，需立即行动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防御战略优先级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固定价格模式最容易执行且效果显著——学习Iliad/SFR立即锁价。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运营商防御策略分析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5 recommended actions to move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71600"/>
            <a:ext cx="268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Arial"/>
              </a:defRPr>
            </a:pPr>
            <a:r>
              <a:t>加速FTTH/FWA覆盖：优先填补FTTH&lt;10%的市场空白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加速FTTH/FWA覆盖：优先填补FTTH&lt;10%的市场空白</a:t>
            </a:r>
          </a:p>
        </p:txBody>
      </p:sp>
      <p:sp>
        <p:nvSpPr>
          <p:cNvPr id="9" name="Oval 8"/>
          <p:cNvSpPr/>
          <p:nvPr/>
        </p:nvSpPr>
        <p:spPr>
          <a:xfrm>
            <a:off x="4236720" y="137160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5360" y="1371600"/>
            <a:ext cx="268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Arial"/>
              </a:defRPr>
            </a:pPr>
            <a:r>
              <a:t>学习Iliad不涨价模式：锁定价格消除Starlink价格叙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67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学习Iliad不涨价模式：锁定价格消除Starlink价格叙事</a:t>
            </a:r>
          </a:p>
        </p:txBody>
      </p:sp>
      <p:sp>
        <p:nvSpPr>
          <p:cNvPr id="12" name="Oval 11"/>
          <p:cNvSpPr/>
          <p:nvPr/>
        </p:nvSpPr>
        <p:spPr>
          <a:xfrm>
            <a:off x="7741920" y="1371600"/>
            <a:ext cx="457200" cy="457200"/>
          </a:xfrm>
          <a:prstGeom prst="ellipse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560" y="1371600"/>
            <a:ext cx="268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F0A2C"/>
                </a:solidFill>
                <a:latin typeface="Arial"/>
              </a:defRPr>
            </a:pPr>
            <a:r>
              <a:t>推出农村专属低价套餐：$15-20档位精准防御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419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推出农村专属低价套餐：$15-20档位精准防御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DB4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931920"/>
            <a:ext cx="4434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B4760"/>
                </a:solidFill>
                <a:latin typeface="Arial"/>
              </a:defRPr>
            </a:pPr>
            <a:r>
              <a:t>5G FWA快速部署：拉美56万FWA用户→防御武器尚未发力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80560"/>
            <a:ext cx="49834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5G FWA快速部署：拉美56万FWA用户→防御武器尚未发力</a:t>
            </a:r>
          </a:p>
        </p:txBody>
      </p:sp>
      <p:sp>
        <p:nvSpPr>
          <p:cNvPr id="18" name="Oval 17"/>
          <p:cNvSpPr/>
          <p:nvPr/>
        </p:nvSpPr>
        <p:spPr>
          <a:xfrm>
            <a:off x="5989320" y="3931920"/>
            <a:ext cx="457200" cy="457200"/>
          </a:xfrm>
          <a:prstGeom prst="ellipse">
            <a:avLst/>
          </a:prstGeom>
          <a:solidFill>
            <a:srgbClr val="AF0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931920"/>
            <a:ext cx="4434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F0825"/>
                </a:solidFill>
                <a:latin typeface="Arial"/>
              </a:defRPr>
            </a:pPr>
            <a:r>
              <a:t>与政府合作数字包容计划：争取农村覆盖补贴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4480560"/>
            <a:ext cx="49834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与政府合作数字包容计划：争取农村覆盖补贴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286000"/>
            <a:ext cx="3657600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Arial"/>
              </a:defRPr>
            </a:pPr>
            <a:r>
              <a:t>运营商高管 + 战略部 —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